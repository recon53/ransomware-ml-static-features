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68" r:id="rId3"/>
    <p:sldId id="257" r:id="rId4"/>
    <p:sldId id="258" r:id="rId5"/>
    <p:sldId id="259" r:id="rId6"/>
    <p:sldId id="260" r:id="rId7"/>
    <p:sldId id="261" r:id="rId8"/>
    <p:sldId id="262" r:id="rId9"/>
    <p:sldId id="264" r:id="rId10"/>
    <p:sldId id="263" r:id="rId11"/>
    <p:sldId id="265" r:id="rId12"/>
    <p:sldId id="269" r:id="rId13"/>
    <p:sldId id="270" r:id="rId14"/>
    <p:sldId id="266" r:id="rId15"/>
    <p:sldId id="271"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60"/>
  </p:normalViewPr>
  <p:slideViewPr>
    <p:cSldViewPr snapToGrid="0">
      <p:cViewPr varScale="1">
        <p:scale>
          <a:sx n="57" d="100"/>
          <a:sy n="57" d="100"/>
        </p:scale>
        <p:origin x="78" y="1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7E4DA8-E1E8-47AE-B499-6E41B9E57BD5}" type="datetimeFigureOut">
              <a:rPr lang="en-US" smtClean="0"/>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4C4D85-4479-4323-91B6-11CDE4C85A1C}" type="slidenum">
              <a:rPr lang="en-US" smtClean="0"/>
              <a:t>‹#›</a:t>
            </a:fld>
            <a:endParaRPr lang="en-US"/>
          </a:p>
        </p:txBody>
      </p:sp>
    </p:spTree>
    <p:extLst>
      <p:ext uri="{BB962C8B-B14F-4D97-AF65-F5344CB8AC3E}">
        <p14:creationId xmlns:p14="http://schemas.microsoft.com/office/powerpoint/2010/main" val="657201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will present a machine learning approach for ransomware detection. I compare a baseline classifier, Logistic Regression, with an ensemble model, Random Forest, to evaluate which model performs better at detecting ransomware behavior.</a:t>
            </a:r>
          </a:p>
        </p:txBody>
      </p:sp>
      <p:sp>
        <p:nvSpPr>
          <p:cNvPr id="4" name="Slide Number Placeholder 3"/>
          <p:cNvSpPr>
            <a:spLocks noGrp="1"/>
          </p:cNvSpPr>
          <p:nvPr>
            <p:ph type="sldNum" sz="quarter" idx="5"/>
          </p:nvPr>
        </p:nvSpPr>
        <p:spPr/>
        <p:txBody>
          <a:bodyPr/>
          <a:lstStyle/>
          <a:p>
            <a:fld id="{E74C4D85-4479-4323-91B6-11CDE4C85A1C}" type="slidenum">
              <a:rPr lang="en-US" smtClean="0"/>
              <a:t>1</a:t>
            </a:fld>
            <a:endParaRPr lang="en-US"/>
          </a:p>
        </p:txBody>
      </p:sp>
    </p:spTree>
    <p:extLst>
      <p:ext uri="{BB962C8B-B14F-4D97-AF65-F5344CB8AC3E}">
        <p14:creationId xmlns:p14="http://schemas.microsoft.com/office/powerpoint/2010/main" val="2468550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this happens to you while doing homework—your files are locked, your screen shows a ransom note, and the attacker demands payment.”</a:t>
            </a:r>
          </a:p>
        </p:txBody>
      </p:sp>
      <p:sp>
        <p:nvSpPr>
          <p:cNvPr id="4" name="Slide Number Placeholder 3"/>
          <p:cNvSpPr>
            <a:spLocks noGrp="1"/>
          </p:cNvSpPr>
          <p:nvPr>
            <p:ph type="sldNum" sz="quarter" idx="5"/>
          </p:nvPr>
        </p:nvSpPr>
        <p:spPr/>
        <p:txBody>
          <a:bodyPr/>
          <a:lstStyle/>
          <a:p>
            <a:fld id="{E74C4D85-4479-4323-91B6-11CDE4C85A1C}" type="slidenum">
              <a:rPr lang="en-US" smtClean="0"/>
              <a:t>2</a:t>
            </a:fld>
            <a:endParaRPr lang="en-US"/>
          </a:p>
        </p:txBody>
      </p:sp>
    </p:spTree>
    <p:extLst>
      <p:ext uri="{BB962C8B-B14F-4D97-AF65-F5344CB8AC3E}">
        <p14:creationId xmlns:p14="http://schemas.microsoft.com/office/powerpoint/2010/main" val="3676144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Ransomware is malware that locks your files using encryption. Once encrypted, you can’t open your files anymore. The attacker then demands a ransom payment for the decryption key. The result is simple: you lose access to your own data unless you have backups or stop the attack early. </a:t>
            </a:r>
            <a:r>
              <a:rPr lang="en-US"/>
              <a:t>That’s why prevention and early detection matters.”</a:t>
            </a:r>
            <a:endParaRPr lang="en-US" dirty="0"/>
          </a:p>
        </p:txBody>
      </p:sp>
      <p:sp>
        <p:nvSpPr>
          <p:cNvPr id="4" name="Slide Number Placeholder 3"/>
          <p:cNvSpPr>
            <a:spLocks noGrp="1"/>
          </p:cNvSpPr>
          <p:nvPr>
            <p:ph type="sldNum" sz="quarter" idx="5"/>
          </p:nvPr>
        </p:nvSpPr>
        <p:spPr/>
        <p:txBody>
          <a:bodyPr/>
          <a:lstStyle/>
          <a:p>
            <a:fld id="{E74C4D85-4479-4323-91B6-11CDE4C85A1C}" type="slidenum">
              <a:rPr lang="en-US" smtClean="0"/>
              <a:t>3</a:t>
            </a:fld>
            <a:endParaRPr lang="en-US"/>
          </a:p>
        </p:txBody>
      </p:sp>
    </p:spTree>
    <p:extLst>
      <p:ext uri="{BB962C8B-B14F-4D97-AF65-F5344CB8AC3E}">
        <p14:creationId xmlns:p14="http://schemas.microsoft.com/office/powerpoint/2010/main" val="3211633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Ransomware spreads quickly and can encrypt hundreds or even thousands of files in minutes. Once the files are encrypted, recovery becomes difficult and expensive. That is why early detection is important—it can stop the attack before the damage spreads further.</a:t>
            </a:r>
          </a:p>
        </p:txBody>
      </p:sp>
      <p:sp>
        <p:nvSpPr>
          <p:cNvPr id="4" name="Slide Number Placeholder 3"/>
          <p:cNvSpPr>
            <a:spLocks noGrp="1"/>
          </p:cNvSpPr>
          <p:nvPr>
            <p:ph type="sldNum" sz="quarter" idx="5"/>
          </p:nvPr>
        </p:nvSpPr>
        <p:spPr/>
        <p:txBody>
          <a:bodyPr/>
          <a:lstStyle/>
          <a:p>
            <a:fld id="{E74C4D85-4479-4323-91B6-11CDE4C85A1C}" type="slidenum">
              <a:rPr lang="en-US" smtClean="0"/>
              <a:t>4</a:t>
            </a:fld>
            <a:endParaRPr lang="en-US"/>
          </a:p>
        </p:txBody>
      </p:sp>
    </p:spTree>
    <p:extLst>
      <p:ext uri="{BB962C8B-B14F-4D97-AF65-F5344CB8AC3E}">
        <p14:creationId xmlns:p14="http://schemas.microsoft.com/office/powerpoint/2010/main" val="856862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does not read the file contents directly. Instead, it learns from behavior signals, also called features. These include file changes, access frequency, process activity, and network activity. Ransomware creates patterns in these behaviors, and machine learning can learn to recognize them.</a:t>
            </a:r>
          </a:p>
        </p:txBody>
      </p:sp>
      <p:sp>
        <p:nvSpPr>
          <p:cNvPr id="4" name="Slide Number Placeholder 3"/>
          <p:cNvSpPr>
            <a:spLocks noGrp="1"/>
          </p:cNvSpPr>
          <p:nvPr>
            <p:ph type="sldNum" sz="quarter" idx="5"/>
          </p:nvPr>
        </p:nvSpPr>
        <p:spPr/>
        <p:txBody>
          <a:bodyPr/>
          <a:lstStyle/>
          <a:p>
            <a:fld id="{E74C4D85-4479-4323-91B6-11CDE4C85A1C}" type="slidenum">
              <a:rPr lang="en-US" smtClean="0"/>
              <a:t>5</a:t>
            </a:fld>
            <a:endParaRPr lang="en-US"/>
          </a:p>
        </p:txBody>
      </p:sp>
    </p:spTree>
    <p:extLst>
      <p:ext uri="{BB962C8B-B14F-4D97-AF65-F5344CB8AC3E}">
        <p14:creationId xmlns:p14="http://schemas.microsoft.com/office/powerpoint/2010/main" val="4181705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compares two supervised machine learning classifiers. Logistic Regression is used as a simple baseline model. Random Forest is an ensemble model that combines multiple decision trees using voting, which usually leads to stronger detection performance.</a:t>
            </a:r>
          </a:p>
        </p:txBody>
      </p:sp>
      <p:sp>
        <p:nvSpPr>
          <p:cNvPr id="4" name="Slide Number Placeholder 3"/>
          <p:cNvSpPr>
            <a:spLocks noGrp="1"/>
          </p:cNvSpPr>
          <p:nvPr>
            <p:ph type="sldNum" sz="quarter" idx="5"/>
          </p:nvPr>
        </p:nvSpPr>
        <p:spPr/>
        <p:txBody>
          <a:bodyPr/>
          <a:lstStyle/>
          <a:p>
            <a:fld id="{E74C4D85-4479-4323-91B6-11CDE4C85A1C}" type="slidenum">
              <a:rPr lang="en-US" smtClean="0"/>
              <a:t>6</a:t>
            </a:fld>
            <a:endParaRPr lang="en-US"/>
          </a:p>
        </p:txBody>
      </p:sp>
    </p:spTree>
    <p:extLst>
      <p:ext uri="{BB962C8B-B14F-4D97-AF65-F5344CB8AC3E}">
        <p14:creationId xmlns:p14="http://schemas.microsoft.com/office/powerpoint/2010/main" val="364794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is our baseline model. It is a supervised learning classifier that outputs a probability between 0 and 1. Based on a threshold, it predicts whether behavior is benign or malicious. It is fast and provides a strong baseline for comparing more advanced models.</a:t>
            </a:r>
          </a:p>
        </p:txBody>
      </p:sp>
      <p:sp>
        <p:nvSpPr>
          <p:cNvPr id="4" name="Slide Number Placeholder 3"/>
          <p:cNvSpPr>
            <a:spLocks noGrp="1"/>
          </p:cNvSpPr>
          <p:nvPr>
            <p:ph type="sldNum" sz="quarter" idx="5"/>
          </p:nvPr>
        </p:nvSpPr>
        <p:spPr/>
        <p:txBody>
          <a:bodyPr/>
          <a:lstStyle/>
          <a:p>
            <a:fld id="{E74C4D85-4479-4323-91B6-11CDE4C85A1C}" type="slidenum">
              <a:rPr lang="en-US" smtClean="0"/>
              <a:t>7</a:t>
            </a:fld>
            <a:endParaRPr lang="en-US"/>
          </a:p>
        </p:txBody>
      </p:sp>
    </p:spTree>
    <p:extLst>
      <p:ext uri="{BB962C8B-B14F-4D97-AF65-F5344CB8AC3E}">
        <p14:creationId xmlns:p14="http://schemas.microsoft.com/office/powerpoint/2010/main" val="3935533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is an ensemble classifier that builds many decision trees. Each tree makes a prediction, and the final decision is based on majority voting. Because it combines multiple trees, it captures complex ransomware patterns better and usually performs more accurately than a simple baseline model.</a:t>
            </a:r>
          </a:p>
        </p:txBody>
      </p:sp>
      <p:sp>
        <p:nvSpPr>
          <p:cNvPr id="4" name="Slide Number Placeholder 3"/>
          <p:cNvSpPr>
            <a:spLocks noGrp="1"/>
          </p:cNvSpPr>
          <p:nvPr>
            <p:ph type="sldNum" sz="quarter" idx="5"/>
          </p:nvPr>
        </p:nvSpPr>
        <p:spPr/>
        <p:txBody>
          <a:bodyPr/>
          <a:lstStyle/>
          <a:p>
            <a:fld id="{E74C4D85-4479-4323-91B6-11CDE4C85A1C}" type="slidenum">
              <a:rPr lang="en-US" smtClean="0"/>
              <a:t>8</a:t>
            </a:fld>
            <a:endParaRPr lang="en-US"/>
          </a:p>
        </p:txBody>
      </p:sp>
    </p:spTree>
    <p:extLst>
      <p:ext uri="{BB962C8B-B14F-4D97-AF65-F5344CB8AC3E}">
        <p14:creationId xmlns:p14="http://schemas.microsoft.com/office/powerpoint/2010/main" val="3676243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results comparison, Logistic Regression works well as a baseline model, but it can miss more complex ransomware patterns. Random Forest performs better overall because it uses many decision trees and majority voting, which improves detection and helps catch more ransomware cases.</a:t>
            </a:r>
          </a:p>
        </p:txBody>
      </p:sp>
      <p:sp>
        <p:nvSpPr>
          <p:cNvPr id="4" name="Slide Number Placeholder 3"/>
          <p:cNvSpPr>
            <a:spLocks noGrp="1"/>
          </p:cNvSpPr>
          <p:nvPr>
            <p:ph type="sldNum" sz="quarter" idx="5"/>
          </p:nvPr>
        </p:nvSpPr>
        <p:spPr/>
        <p:txBody>
          <a:bodyPr/>
          <a:lstStyle/>
          <a:p>
            <a:fld id="{E74C4D85-4479-4323-91B6-11CDE4C85A1C}" type="slidenum">
              <a:rPr lang="en-US" smtClean="0"/>
              <a:t>9</a:t>
            </a:fld>
            <a:endParaRPr lang="en-US"/>
          </a:p>
        </p:txBody>
      </p:sp>
    </p:spTree>
    <p:extLst>
      <p:ext uri="{BB962C8B-B14F-4D97-AF65-F5344CB8AC3E}">
        <p14:creationId xmlns:p14="http://schemas.microsoft.com/office/powerpoint/2010/main" val="5104509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is stronger because it uses majority voting—many decision trees make predictions and the final result is the most common vote. This reduces errors from any single tree. It also handles non-linear and complex ransomware behaviors better than Logistic Regression, which is more limited in what patterns it can capture.</a:t>
            </a:r>
          </a:p>
        </p:txBody>
      </p:sp>
      <p:sp>
        <p:nvSpPr>
          <p:cNvPr id="4" name="Slide Number Placeholder 3"/>
          <p:cNvSpPr>
            <a:spLocks noGrp="1"/>
          </p:cNvSpPr>
          <p:nvPr>
            <p:ph type="sldNum" sz="quarter" idx="5"/>
          </p:nvPr>
        </p:nvSpPr>
        <p:spPr/>
        <p:txBody>
          <a:bodyPr/>
          <a:lstStyle/>
          <a:p>
            <a:fld id="{E74C4D85-4479-4323-91B6-11CDE4C85A1C}" type="slidenum">
              <a:rPr lang="en-US" smtClean="0"/>
              <a:t>10</a:t>
            </a:fld>
            <a:endParaRPr lang="en-US"/>
          </a:p>
        </p:txBody>
      </p:sp>
    </p:spTree>
    <p:extLst>
      <p:ext uri="{BB962C8B-B14F-4D97-AF65-F5344CB8AC3E}">
        <p14:creationId xmlns:p14="http://schemas.microsoft.com/office/powerpoint/2010/main" val="716067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 model performance using accuracy, precision, recall, and F1-score. Accuracy measures overall correctness, precision tells us how many detected threats are truly malicious, and recall tells us how many real ransomware cases we successfully catch. For security, recall is especially important because false negatives mean ransomware can slip through undetected.</a:t>
            </a:r>
          </a:p>
        </p:txBody>
      </p:sp>
      <p:sp>
        <p:nvSpPr>
          <p:cNvPr id="4" name="Slide Number Placeholder 3"/>
          <p:cNvSpPr>
            <a:spLocks noGrp="1"/>
          </p:cNvSpPr>
          <p:nvPr>
            <p:ph type="sldNum" sz="quarter" idx="5"/>
          </p:nvPr>
        </p:nvSpPr>
        <p:spPr/>
        <p:txBody>
          <a:bodyPr/>
          <a:lstStyle/>
          <a:p>
            <a:fld id="{E74C4D85-4479-4323-91B6-11CDE4C85A1C}" type="slidenum">
              <a:rPr lang="en-US" smtClean="0"/>
              <a:t>11</a:t>
            </a:fld>
            <a:endParaRPr lang="en-US"/>
          </a:p>
        </p:txBody>
      </p:sp>
    </p:spTree>
    <p:extLst>
      <p:ext uri="{BB962C8B-B14F-4D97-AF65-F5344CB8AC3E}">
        <p14:creationId xmlns:p14="http://schemas.microsoft.com/office/powerpoint/2010/main" val="1957208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learned that machine learning can detect ransomware behavior patterns. Logistic Regression provides a strong baseline, but Random Forest performs better because it uses ensemble voting and captures complex ransomware behavior. For security tasks, recall is critical because false negatives allow ransomware to slip through.</a:t>
            </a:r>
          </a:p>
        </p:txBody>
      </p:sp>
      <p:sp>
        <p:nvSpPr>
          <p:cNvPr id="4" name="Slide Number Placeholder 3"/>
          <p:cNvSpPr>
            <a:spLocks noGrp="1"/>
          </p:cNvSpPr>
          <p:nvPr>
            <p:ph type="sldNum" sz="quarter" idx="5"/>
          </p:nvPr>
        </p:nvSpPr>
        <p:spPr/>
        <p:txBody>
          <a:bodyPr/>
          <a:lstStyle/>
          <a:p>
            <a:fld id="{E74C4D85-4479-4323-91B6-11CDE4C85A1C}" type="slidenum">
              <a:rPr lang="en-US" smtClean="0"/>
              <a:t>14</a:t>
            </a:fld>
            <a:endParaRPr lang="en-US"/>
          </a:p>
        </p:txBody>
      </p:sp>
    </p:spTree>
    <p:extLst>
      <p:ext uri="{BB962C8B-B14F-4D97-AF65-F5344CB8AC3E}">
        <p14:creationId xmlns:p14="http://schemas.microsoft.com/office/powerpoint/2010/main" val="2030467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249CCA9-ED06-4665-B819-D72AF20B4118}"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314003814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49CCA9-ED06-4665-B819-D72AF20B4118}"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324196616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49CCA9-ED06-4665-B819-D72AF20B4118}"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111407838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49CCA9-ED06-4665-B819-D72AF20B4118}"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342003336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49CCA9-ED06-4665-B819-D72AF20B4118}"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371358259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249CCA9-ED06-4665-B819-D72AF20B4118}"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94906367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49CCA9-ED06-4665-B819-D72AF20B4118}"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112344843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49CCA9-ED06-4665-B819-D72AF20B4118}"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336882501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49CCA9-ED06-4665-B819-D72AF20B4118}"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198915922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49CCA9-ED06-4665-B819-D72AF20B4118}"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2754663415"/>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49CCA9-ED06-4665-B819-D72AF20B4118}"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249675488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49CCA9-ED06-4665-B819-D72AF20B4118}"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A33C73-BD4F-4D98-A30B-84525F9ECE7A}"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5262726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49CCA9-ED06-4665-B819-D72AF20B4118}"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2555760466"/>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249CCA9-ED06-4665-B819-D72AF20B4118}"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330238159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249CCA9-ED06-4665-B819-D72AF20B4118}"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2694853895"/>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49CCA9-ED06-4665-B819-D72AF20B4118}"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69603349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49CCA9-ED06-4665-B819-D72AF20B4118}"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A33C73-BD4F-4D98-A30B-84525F9ECE7A}" type="slidenum">
              <a:rPr lang="en-US" smtClean="0"/>
              <a:t>‹#›</a:t>
            </a:fld>
            <a:endParaRPr lang="en-US"/>
          </a:p>
        </p:txBody>
      </p:sp>
    </p:spTree>
    <p:extLst>
      <p:ext uri="{BB962C8B-B14F-4D97-AF65-F5344CB8AC3E}">
        <p14:creationId xmlns:p14="http://schemas.microsoft.com/office/powerpoint/2010/main" val="150906816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249CCA9-ED06-4665-B819-D72AF20B4118}" type="datetimeFigureOut">
              <a:rPr lang="en-US" smtClean="0"/>
              <a:t>1/15/2026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00A33C73-BD4F-4D98-A30B-84525F9ECE7A}" type="slidenum">
              <a:rPr lang="en-US" smtClean="0"/>
              <a:t>‹#›</a:t>
            </a:fld>
            <a:endParaRPr lang="en-US"/>
          </a:p>
        </p:txBody>
      </p:sp>
    </p:spTree>
    <p:extLst>
      <p:ext uri="{BB962C8B-B14F-4D97-AF65-F5344CB8AC3E}">
        <p14:creationId xmlns:p14="http://schemas.microsoft.com/office/powerpoint/2010/main" val="328816069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p:fade/>
  </p:transition>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CA372-F2AE-7447-8496-05E0121F809A}"/>
              </a:ext>
            </a:extLst>
          </p:cNvPr>
          <p:cNvSpPr>
            <a:spLocks noGrp="1"/>
          </p:cNvSpPr>
          <p:nvPr>
            <p:ph type="ctrTitle"/>
          </p:nvPr>
        </p:nvSpPr>
        <p:spPr/>
        <p:txBody>
          <a:bodyPr/>
          <a:lstStyle/>
          <a:p>
            <a:r>
              <a:rPr lang="en-US" dirty="0"/>
              <a:t>Ransomware Detection Using Machine Learning</a:t>
            </a:r>
          </a:p>
        </p:txBody>
      </p:sp>
      <p:sp>
        <p:nvSpPr>
          <p:cNvPr id="3" name="Subtitle 2">
            <a:extLst>
              <a:ext uri="{FF2B5EF4-FFF2-40B4-BE49-F238E27FC236}">
                <a16:creationId xmlns:a16="http://schemas.microsoft.com/office/drawing/2014/main" id="{5D38BFD8-B0BF-BCBD-0D3E-748DD42E57F3}"/>
              </a:ext>
            </a:extLst>
          </p:cNvPr>
          <p:cNvSpPr>
            <a:spLocks noGrp="1"/>
          </p:cNvSpPr>
          <p:nvPr>
            <p:ph type="subTitle" idx="1"/>
          </p:nvPr>
        </p:nvSpPr>
        <p:spPr/>
        <p:txBody>
          <a:bodyPr/>
          <a:lstStyle/>
          <a:p>
            <a:r>
              <a:rPr lang="en-US" b="1" dirty="0"/>
              <a:t>Logistic Regression (Baseline) vs Random Forest (Ensemble)</a:t>
            </a:r>
            <a:br>
              <a:rPr lang="en-US" dirty="0"/>
            </a:br>
            <a:r>
              <a:rPr lang="en-US" b="1" dirty="0"/>
              <a:t>Miguel Guadalupe | FIU</a:t>
            </a:r>
            <a:endParaRPr lang="en-US" dirty="0"/>
          </a:p>
        </p:txBody>
      </p:sp>
    </p:spTree>
    <p:extLst>
      <p:ext uri="{BB962C8B-B14F-4D97-AF65-F5344CB8AC3E}">
        <p14:creationId xmlns:p14="http://schemas.microsoft.com/office/powerpoint/2010/main" val="212120493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D051366-C53B-264D-8C6A-B50D4A8D3C22}"/>
              </a:ext>
            </a:extLst>
          </p:cNvPr>
          <p:cNvSpPr/>
          <p:nvPr/>
        </p:nvSpPr>
        <p:spPr>
          <a:xfrm>
            <a:off x="3855308" y="0"/>
            <a:ext cx="8336692" cy="84953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effectLst>
                <a:outerShdw blurRad="50800" dist="50800" dir="5400000" algn="ctr" rotWithShape="0">
                  <a:srgbClr val="000000">
                    <a:alpha val="65000"/>
                  </a:srgbClr>
                </a:outerShdw>
              </a:effectLst>
            </a:endParaRPr>
          </a:p>
        </p:txBody>
      </p:sp>
      <p:pic>
        <p:nvPicPr>
          <p:cNvPr id="5" name="Picture 4">
            <a:extLst>
              <a:ext uri="{FF2B5EF4-FFF2-40B4-BE49-F238E27FC236}">
                <a16:creationId xmlns:a16="http://schemas.microsoft.com/office/drawing/2014/main" id="{628096FC-3B25-4223-350D-EC3FA36E2FEE}"/>
              </a:ext>
            </a:extLst>
          </p:cNvPr>
          <p:cNvPicPr>
            <a:picLocks noChangeAspect="1"/>
          </p:cNvPicPr>
          <p:nvPr/>
        </p:nvPicPr>
        <p:blipFill>
          <a:blip r:embed="rId3">
            <a:extLst>
              <a:ext uri="{28A0092B-C50C-407E-A947-70E740481C1C}">
                <a14:useLocalDpi xmlns:a14="http://schemas.microsoft.com/office/drawing/2010/main" val="0"/>
              </a:ext>
            </a:extLst>
          </a:blip>
          <a:srcRect l="50000" b="50000"/>
          <a:stretch>
            <a:fillRect/>
          </a:stretch>
        </p:blipFill>
        <p:spPr>
          <a:xfrm>
            <a:off x="0" y="849531"/>
            <a:ext cx="12192000" cy="6008470"/>
          </a:xfrm>
          <a:prstGeom prst="rect">
            <a:avLst/>
          </a:prstGeom>
        </p:spPr>
      </p:pic>
      <p:sp>
        <p:nvSpPr>
          <p:cNvPr id="6" name="TextBox 5">
            <a:extLst>
              <a:ext uri="{FF2B5EF4-FFF2-40B4-BE49-F238E27FC236}">
                <a16:creationId xmlns:a16="http://schemas.microsoft.com/office/drawing/2014/main" id="{1CD9E171-706C-E003-D6C6-0FDEC6536E9A}"/>
              </a:ext>
            </a:extLst>
          </p:cNvPr>
          <p:cNvSpPr txBox="1"/>
          <p:nvPr/>
        </p:nvSpPr>
        <p:spPr>
          <a:xfrm>
            <a:off x="3826934" y="135467"/>
            <a:ext cx="8805333" cy="584775"/>
          </a:xfrm>
          <a:prstGeom prst="rect">
            <a:avLst/>
          </a:prstGeom>
          <a:noFill/>
        </p:spPr>
        <p:txBody>
          <a:bodyPr wrap="square" rtlCol="0">
            <a:spAutoFit/>
          </a:bodyPr>
          <a:lstStyle/>
          <a:p>
            <a:r>
              <a:rPr lang="en-US" dirty="0"/>
              <a:t>🚨 </a:t>
            </a:r>
            <a:r>
              <a:rPr lang="en-US" sz="3200" b="1" dirty="0"/>
              <a:t>LIVE ATTACK: Ransomware in Action</a:t>
            </a:r>
            <a:endParaRPr lang="en-US" sz="3200" dirty="0"/>
          </a:p>
        </p:txBody>
      </p:sp>
    </p:spTree>
    <p:extLst>
      <p:ext uri="{BB962C8B-B14F-4D97-AF65-F5344CB8AC3E}">
        <p14:creationId xmlns:p14="http://schemas.microsoft.com/office/powerpoint/2010/main" val="2584365564"/>
      </p:ext>
    </p:extLst>
  </p:cSld>
  <p:clrMapOvr>
    <a:masterClrMapping/>
  </p:clrMapOvr>
  <p:transition advTm="20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54C3DCE-61CF-2A9D-1508-209B2796E475}"/>
              </a:ext>
            </a:extLst>
          </p:cNvPr>
          <p:cNvSpPr>
            <a:spLocks noGrp="1"/>
          </p:cNvSpPr>
          <p:nvPr>
            <p:ph type="title"/>
          </p:nvPr>
        </p:nvSpPr>
        <p:spPr/>
        <p:txBody>
          <a:bodyPr>
            <a:normAutofit/>
          </a:bodyPr>
          <a:lstStyle/>
          <a:p>
            <a:r>
              <a:rPr lang="en-US" sz="4000" dirty="0"/>
              <a:t>What is Ransomware?</a:t>
            </a:r>
          </a:p>
        </p:txBody>
      </p:sp>
      <p:pic>
        <p:nvPicPr>
          <p:cNvPr id="9" name="Content Placeholder 8">
            <a:extLst>
              <a:ext uri="{FF2B5EF4-FFF2-40B4-BE49-F238E27FC236}">
                <a16:creationId xmlns:a16="http://schemas.microsoft.com/office/drawing/2014/main" id="{C864927F-2899-D81A-1976-0442B429811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43111" y="1935920"/>
            <a:ext cx="5547016" cy="4312479"/>
          </a:xfrm>
        </p:spPr>
      </p:pic>
      <p:sp>
        <p:nvSpPr>
          <p:cNvPr id="12" name="TextBox 11">
            <a:extLst>
              <a:ext uri="{FF2B5EF4-FFF2-40B4-BE49-F238E27FC236}">
                <a16:creationId xmlns:a16="http://schemas.microsoft.com/office/drawing/2014/main" id="{B3DEB451-9AD8-44FE-1A0D-88DE1A477A74}"/>
              </a:ext>
            </a:extLst>
          </p:cNvPr>
          <p:cNvSpPr txBox="1"/>
          <p:nvPr/>
        </p:nvSpPr>
        <p:spPr>
          <a:xfrm>
            <a:off x="924445" y="1935920"/>
            <a:ext cx="5171556" cy="3970318"/>
          </a:xfrm>
          <a:prstGeom prst="rect">
            <a:avLst/>
          </a:prstGeom>
          <a:noFill/>
        </p:spPr>
        <p:txBody>
          <a:bodyPr wrap="square" rtlCol="0">
            <a:spAutoFit/>
          </a:bodyPr>
          <a:lstStyle/>
          <a:p>
            <a:pPr marL="285750" indent="-285750">
              <a:buFont typeface="Arial" panose="020B0604020202020204" pitchFamily="34" charset="0"/>
              <a:buChar char="•"/>
            </a:pPr>
            <a:r>
              <a:rPr lang="en-US" sz="2800" dirty="0"/>
              <a:t>Locks your files using </a:t>
            </a:r>
            <a:r>
              <a:rPr lang="en-US" sz="2800" b="1" dirty="0"/>
              <a:t>encryption</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Demands money (</a:t>
            </a:r>
            <a:r>
              <a:rPr lang="en-US" sz="2800" b="1" dirty="0"/>
              <a:t>ransom</a:t>
            </a:r>
            <a:r>
              <a:rPr lang="en-US" sz="2800" dirty="0"/>
              <a:t>) to unlock them</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400" b="1" dirty="0"/>
              <a:t>Result: You lose access to your own data.</a:t>
            </a:r>
          </a:p>
        </p:txBody>
      </p:sp>
    </p:spTree>
    <p:extLst>
      <p:ext uri="{BB962C8B-B14F-4D97-AF65-F5344CB8AC3E}">
        <p14:creationId xmlns:p14="http://schemas.microsoft.com/office/powerpoint/2010/main" val="209302893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A237CD-B9A8-011D-5CBC-CD299F9B002B}"/>
              </a:ext>
            </a:extLst>
          </p:cNvPr>
          <p:cNvSpPr>
            <a:spLocks noGrp="1"/>
          </p:cNvSpPr>
          <p:nvPr>
            <p:ph type="title"/>
          </p:nvPr>
        </p:nvSpPr>
        <p:spPr/>
        <p:txBody>
          <a:bodyPr/>
          <a:lstStyle/>
          <a:p>
            <a:r>
              <a:rPr lang="en-US" dirty="0"/>
              <a:t>Why Early Detection Matters</a:t>
            </a:r>
          </a:p>
        </p:txBody>
      </p:sp>
      <p:pic>
        <p:nvPicPr>
          <p:cNvPr id="6" name="Picture 5">
            <a:extLst>
              <a:ext uri="{FF2B5EF4-FFF2-40B4-BE49-F238E27FC236}">
                <a16:creationId xmlns:a16="http://schemas.microsoft.com/office/drawing/2014/main" id="{F43F53DF-CEC2-5278-67F6-5AE0FBE0B0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5867" y="1935921"/>
            <a:ext cx="7416799" cy="4555066"/>
          </a:xfrm>
          <a:prstGeom prst="rect">
            <a:avLst/>
          </a:prstGeom>
        </p:spPr>
      </p:pic>
      <p:sp>
        <p:nvSpPr>
          <p:cNvPr id="7" name="TextBox 6">
            <a:extLst>
              <a:ext uri="{FF2B5EF4-FFF2-40B4-BE49-F238E27FC236}">
                <a16:creationId xmlns:a16="http://schemas.microsoft.com/office/drawing/2014/main" id="{05B26A67-D627-3ED3-BBBD-F575BD3ABC69}"/>
              </a:ext>
            </a:extLst>
          </p:cNvPr>
          <p:cNvSpPr txBox="1"/>
          <p:nvPr/>
        </p:nvSpPr>
        <p:spPr>
          <a:xfrm>
            <a:off x="913796" y="1935920"/>
            <a:ext cx="3522738"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Ransomware can encrypt hundreds of files in minutes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Once encrypted, recovery is hard and expensive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Early detection  can stop the attack before it spreads</a:t>
            </a:r>
          </a:p>
        </p:txBody>
      </p:sp>
    </p:spTree>
    <p:extLst>
      <p:ext uri="{BB962C8B-B14F-4D97-AF65-F5344CB8AC3E}">
        <p14:creationId xmlns:p14="http://schemas.microsoft.com/office/powerpoint/2010/main" val="3306845576"/>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ADC3D4-45A1-56AD-974A-FB06241F6770}"/>
              </a:ext>
            </a:extLst>
          </p:cNvPr>
          <p:cNvSpPr>
            <a:spLocks noGrp="1"/>
          </p:cNvSpPr>
          <p:nvPr>
            <p:ph type="title"/>
          </p:nvPr>
        </p:nvSpPr>
        <p:spPr/>
        <p:txBody>
          <a:bodyPr/>
          <a:lstStyle/>
          <a:p>
            <a:r>
              <a:rPr lang="en-US" dirty="0"/>
              <a:t>What Data Does the Model See? (Features)</a:t>
            </a:r>
          </a:p>
        </p:txBody>
      </p:sp>
      <p:pic>
        <p:nvPicPr>
          <p:cNvPr id="6" name="Content Placeholder 5">
            <a:extLst>
              <a:ext uri="{FF2B5EF4-FFF2-40B4-BE49-F238E27FC236}">
                <a16:creationId xmlns:a16="http://schemas.microsoft.com/office/drawing/2014/main" id="{8DEA5848-8AF6-294E-52E1-428519BE4F1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556940" y="2045987"/>
            <a:ext cx="6510888" cy="4337880"/>
          </a:xfrm>
        </p:spPr>
      </p:pic>
      <p:sp>
        <p:nvSpPr>
          <p:cNvPr id="7" name="TextBox 6">
            <a:extLst>
              <a:ext uri="{FF2B5EF4-FFF2-40B4-BE49-F238E27FC236}">
                <a16:creationId xmlns:a16="http://schemas.microsoft.com/office/drawing/2014/main" id="{A29E1A37-28DC-443F-A0AC-E2BD289A4D9D}"/>
              </a:ext>
            </a:extLst>
          </p:cNvPr>
          <p:cNvSpPr txBox="1"/>
          <p:nvPr/>
        </p:nvSpPr>
        <p:spPr>
          <a:xfrm>
            <a:off x="321733" y="2045988"/>
            <a:ext cx="5046134" cy="3046988"/>
          </a:xfrm>
          <a:prstGeom prst="rect">
            <a:avLst/>
          </a:prstGeom>
          <a:noFill/>
        </p:spPr>
        <p:txBody>
          <a:bodyPr wrap="square" rtlCol="0">
            <a:spAutoFit/>
          </a:bodyPr>
          <a:lstStyle/>
          <a:p>
            <a:pPr marL="285750" indent="-285750">
              <a:buFont typeface="Arial" panose="020B0604020202020204" pitchFamily="34" charset="0"/>
              <a:buChar char="•"/>
            </a:pPr>
            <a:r>
              <a:rPr lang="en-US" sz="2000" dirty="0"/>
              <a:t>The model does not read the file contents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It learns from behavior signals (features) such as:</a:t>
            </a:r>
          </a:p>
          <a:p>
            <a:endParaRPr lang="en-US" sz="2000" dirty="0"/>
          </a:p>
          <a:p>
            <a:pPr lvl="1"/>
            <a:r>
              <a:rPr lang="en-US" dirty="0"/>
              <a:t>    File changes</a:t>
            </a:r>
          </a:p>
          <a:p>
            <a:pPr lvl="1"/>
            <a:r>
              <a:rPr lang="en-US" dirty="0"/>
              <a:t>    Access frequency</a:t>
            </a:r>
          </a:p>
          <a:p>
            <a:pPr lvl="1"/>
            <a:r>
              <a:rPr lang="en-US" dirty="0"/>
              <a:t>    Process activity</a:t>
            </a:r>
          </a:p>
          <a:p>
            <a:pPr lvl="1"/>
            <a:r>
              <a:rPr lang="en-US" dirty="0"/>
              <a:t>    Network activity</a:t>
            </a:r>
          </a:p>
        </p:txBody>
      </p:sp>
    </p:spTree>
    <p:extLst>
      <p:ext uri="{BB962C8B-B14F-4D97-AF65-F5344CB8AC3E}">
        <p14:creationId xmlns:p14="http://schemas.microsoft.com/office/powerpoint/2010/main" val="110166069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FB364-DDB3-7151-3FFA-9F8251FAF276}"/>
              </a:ext>
            </a:extLst>
          </p:cNvPr>
          <p:cNvSpPr>
            <a:spLocks noGrp="1"/>
          </p:cNvSpPr>
          <p:nvPr>
            <p:ph type="title"/>
          </p:nvPr>
        </p:nvSpPr>
        <p:spPr>
          <a:xfrm>
            <a:off x="913795" y="304802"/>
            <a:ext cx="10353761" cy="1231639"/>
          </a:xfrm>
        </p:spPr>
        <p:txBody>
          <a:bodyPr/>
          <a:lstStyle/>
          <a:p>
            <a:r>
              <a:rPr lang="en-US" dirty="0"/>
              <a:t>“Baseline” vs “</a:t>
            </a:r>
            <a:r>
              <a:rPr lang="en-US" sz="3600" dirty="0"/>
              <a:t>Ensemble</a:t>
            </a:r>
            <a:r>
              <a:rPr lang="en-US" dirty="0"/>
              <a:t>” Models</a:t>
            </a:r>
          </a:p>
        </p:txBody>
      </p:sp>
      <p:pic>
        <p:nvPicPr>
          <p:cNvPr id="5" name="Content Placeholder 4">
            <a:extLst>
              <a:ext uri="{FF2B5EF4-FFF2-40B4-BE49-F238E27FC236}">
                <a16:creationId xmlns:a16="http://schemas.microsoft.com/office/drawing/2014/main" id="{CD9AA680-A5CD-88DE-3FDF-F1A8A931E4B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32096" y="1935920"/>
            <a:ext cx="6710395" cy="4922080"/>
          </a:xfrm>
        </p:spPr>
      </p:pic>
      <p:sp>
        <p:nvSpPr>
          <p:cNvPr id="6" name="TextBox 5">
            <a:extLst>
              <a:ext uri="{FF2B5EF4-FFF2-40B4-BE49-F238E27FC236}">
                <a16:creationId xmlns:a16="http://schemas.microsoft.com/office/drawing/2014/main" id="{69B09886-03EB-40A6-F532-1F1F9B3515E0}"/>
              </a:ext>
            </a:extLst>
          </p:cNvPr>
          <p:cNvSpPr txBox="1"/>
          <p:nvPr/>
        </p:nvSpPr>
        <p:spPr>
          <a:xfrm>
            <a:off x="626533" y="1935919"/>
            <a:ext cx="4724400" cy="5016758"/>
          </a:xfrm>
          <a:prstGeom prst="rect">
            <a:avLst/>
          </a:prstGeom>
          <a:noFill/>
        </p:spPr>
        <p:txBody>
          <a:bodyPr wrap="square" rtlCol="0">
            <a:spAutoFit/>
          </a:bodyPr>
          <a:lstStyle/>
          <a:p>
            <a:r>
              <a:rPr lang="en-US" sz="2000" b="1" dirty="0"/>
              <a:t>Baseline Model</a:t>
            </a:r>
          </a:p>
          <a:p>
            <a:endParaRPr lang="en-US" sz="2000" dirty="0"/>
          </a:p>
          <a:p>
            <a:pPr marL="285750" indent="-285750">
              <a:buFont typeface="Arial" panose="020B0604020202020204" pitchFamily="34" charset="0"/>
              <a:buChar char="•"/>
            </a:pPr>
            <a:r>
              <a:rPr lang="en-US" sz="2000" dirty="0"/>
              <a:t>Simple: uses one ML algorithm</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Good starting point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Example: </a:t>
            </a:r>
            <a:r>
              <a:rPr lang="en-US" sz="2000" b="1" dirty="0"/>
              <a:t>Logistic Regression</a:t>
            </a:r>
          </a:p>
          <a:p>
            <a:endParaRPr lang="en-US" sz="2000" dirty="0"/>
          </a:p>
          <a:p>
            <a:r>
              <a:rPr lang="en-US" sz="2000" b="1" dirty="0"/>
              <a:t>Ensemble Model</a:t>
            </a:r>
          </a:p>
          <a:p>
            <a:endParaRPr lang="en-US" sz="2000" dirty="0"/>
          </a:p>
          <a:p>
            <a:pPr marL="285750" indent="-285750">
              <a:buFont typeface="Arial" panose="020B0604020202020204" pitchFamily="34" charset="0"/>
              <a:buChar char="•"/>
            </a:pPr>
            <a:r>
              <a:rPr lang="en-US" sz="2000" dirty="0"/>
              <a:t>Combines multiple models (many trees)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More accurate + more stable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Example: </a:t>
            </a:r>
            <a:r>
              <a:rPr lang="en-US" sz="2000" b="1" dirty="0"/>
              <a:t>Random Forest</a:t>
            </a:r>
          </a:p>
        </p:txBody>
      </p:sp>
    </p:spTree>
    <p:extLst>
      <p:ext uri="{BB962C8B-B14F-4D97-AF65-F5344CB8AC3E}">
        <p14:creationId xmlns:p14="http://schemas.microsoft.com/office/powerpoint/2010/main" val="199841625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9750C-632E-21F9-6029-4FBD7AA7F9F6}"/>
              </a:ext>
            </a:extLst>
          </p:cNvPr>
          <p:cNvSpPr>
            <a:spLocks noGrp="1"/>
          </p:cNvSpPr>
          <p:nvPr>
            <p:ph type="title"/>
          </p:nvPr>
        </p:nvSpPr>
        <p:spPr/>
        <p:txBody>
          <a:bodyPr/>
          <a:lstStyle/>
          <a:p>
            <a:r>
              <a:rPr lang="it-IT" dirty="0"/>
              <a:t>Model 1: Logistic Regression (</a:t>
            </a:r>
            <a:r>
              <a:rPr lang="it-IT" sz="4000" dirty="0"/>
              <a:t>Baseline</a:t>
            </a:r>
            <a:r>
              <a:rPr lang="it-IT" dirty="0"/>
              <a:t>)</a:t>
            </a:r>
            <a:endParaRPr lang="en-US" dirty="0"/>
          </a:p>
        </p:txBody>
      </p:sp>
      <p:pic>
        <p:nvPicPr>
          <p:cNvPr id="5" name="Content Placeholder 4">
            <a:extLst>
              <a:ext uri="{FF2B5EF4-FFF2-40B4-BE49-F238E27FC236}">
                <a16:creationId xmlns:a16="http://schemas.microsoft.com/office/drawing/2014/main" id="{05AC921F-9188-0CB3-F33C-1614FF73D95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417460" y="1983063"/>
            <a:ext cx="6402006" cy="4265337"/>
          </a:xfrm>
        </p:spPr>
      </p:pic>
      <p:sp>
        <p:nvSpPr>
          <p:cNvPr id="6" name="TextBox 5">
            <a:extLst>
              <a:ext uri="{FF2B5EF4-FFF2-40B4-BE49-F238E27FC236}">
                <a16:creationId xmlns:a16="http://schemas.microsoft.com/office/drawing/2014/main" id="{FF9B5635-E4DA-B9F1-6AB2-E89F2C12489E}"/>
              </a:ext>
            </a:extLst>
          </p:cNvPr>
          <p:cNvSpPr txBox="1"/>
          <p:nvPr/>
        </p:nvSpPr>
        <p:spPr>
          <a:xfrm>
            <a:off x="508000" y="1983063"/>
            <a:ext cx="4909460" cy="4708981"/>
          </a:xfrm>
          <a:prstGeom prst="rect">
            <a:avLst/>
          </a:prstGeom>
          <a:noFill/>
        </p:spPr>
        <p:txBody>
          <a:bodyPr wrap="square" rtlCol="0">
            <a:spAutoFit/>
          </a:bodyPr>
          <a:lstStyle/>
          <a:p>
            <a:r>
              <a:rPr lang="en-US" sz="2000" dirty="0"/>
              <a:t>What it does</a:t>
            </a:r>
          </a:p>
          <a:p>
            <a:endParaRPr lang="en-US" sz="2000" dirty="0"/>
          </a:p>
          <a:p>
            <a:pPr marL="342900" indent="-342900">
              <a:buFont typeface="Arial" panose="020B0604020202020204" pitchFamily="34" charset="0"/>
              <a:buChar char="•"/>
            </a:pPr>
            <a:r>
              <a:rPr lang="en-US" sz="2000" dirty="0"/>
              <a:t>Supervised learning </a:t>
            </a:r>
            <a:r>
              <a:rPr lang="en-US" sz="2000" b="1" dirty="0"/>
              <a:t>classifier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Outputs a </a:t>
            </a:r>
            <a:r>
              <a:rPr lang="en-US" sz="2000" b="1" dirty="0"/>
              <a:t>probability</a:t>
            </a:r>
          </a:p>
          <a:p>
            <a:endParaRPr lang="en-US" sz="2000" dirty="0"/>
          </a:p>
          <a:p>
            <a:r>
              <a:rPr lang="en-US" sz="2000" dirty="0"/>
              <a:t>		0 → Benign</a:t>
            </a:r>
          </a:p>
          <a:p>
            <a:endParaRPr lang="en-US" sz="2000" dirty="0"/>
          </a:p>
          <a:p>
            <a:r>
              <a:rPr lang="en-US" sz="2000" dirty="0"/>
              <a:t>		1 → Malicious</a:t>
            </a:r>
          </a:p>
          <a:p>
            <a:endParaRPr lang="en-US" sz="2000" dirty="0"/>
          </a:p>
          <a:p>
            <a:r>
              <a:rPr lang="en-US" sz="2000" dirty="0"/>
              <a:t>Why we use it</a:t>
            </a:r>
          </a:p>
          <a:p>
            <a:endParaRPr lang="en-US" sz="2000" dirty="0"/>
          </a:p>
          <a:p>
            <a:pPr marL="342900" indent="-342900">
              <a:buFont typeface="Arial" panose="020B0604020202020204" pitchFamily="34" charset="0"/>
              <a:buChar char="•"/>
            </a:pPr>
            <a:r>
              <a:rPr lang="en-US" sz="2000" dirty="0"/>
              <a:t>Simple + fast </a:t>
            </a:r>
            <a:r>
              <a:rPr lang="en-US" sz="2000" b="1" dirty="0"/>
              <a:t>baseline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Good starting point for comparison</a:t>
            </a:r>
          </a:p>
        </p:txBody>
      </p:sp>
    </p:spTree>
    <p:extLst>
      <p:ext uri="{BB962C8B-B14F-4D97-AF65-F5344CB8AC3E}">
        <p14:creationId xmlns:p14="http://schemas.microsoft.com/office/powerpoint/2010/main" val="151800572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7878C-6EE6-4FE5-2E08-5298E4C383BC}"/>
              </a:ext>
            </a:extLst>
          </p:cNvPr>
          <p:cNvSpPr>
            <a:spLocks noGrp="1"/>
          </p:cNvSpPr>
          <p:nvPr>
            <p:ph type="title"/>
          </p:nvPr>
        </p:nvSpPr>
        <p:spPr>
          <a:xfrm>
            <a:off x="913795" y="203201"/>
            <a:ext cx="10353761" cy="1320800"/>
          </a:xfrm>
        </p:spPr>
        <p:txBody>
          <a:bodyPr/>
          <a:lstStyle/>
          <a:p>
            <a:r>
              <a:rPr lang="en-US" dirty="0"/>
              <a:t>Model 2: Random Forest (Ensemble)</a:t>
            </a:r>
          </a:p>
        </p:txBody>
      </p:sp>
      <p:pic>
        <p:nvPicPr>
          <p:cNvPr id="5" name="Content Placeholder 4">
            <a:extLst>
              <a:ext uri="{FF2B5EF4-FFF2-40B4-BE49-F238E27FC236}">
                <a16:creationId xmlns:a16="http://schemas.microsoft.com/office/drawing/2014/main" id="{DCE7D89F-B05B-E699-8475-A6EB91FBC7D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85726" y="1935921"/>
            <a:ext cx="6650674" cy="4431012"/>
          </a:xfrm>
        </p:spPr>
      </p:pic>
      <p:sp>
        <p:nvSpPr>
          <p:cNvPr id="7" name="TextBox 6">
            <a:extLst>
              <a:ext uri="{FF2B5EF4-FFF2-40B4-BE49-F238E27FC236}">
                <a16:creationId xmlns:a16="http://schemas.microsoft.com/office/drawing/2014/main" id="{F5A18448-8BBD-FC37-66C8-3637704A0BFD}"/>
              </a:ext>
            </a:extLst>
          </p:cNvPr>
          <p:cNvSpPr txBox="1"/>
          <p:nvPr/>
        </p:nvSpPr>
        <p:spPr>
          <a:xfrm>
            <a:off x="355600" y="1935922"/>
            <a:ext cx="4830126" cy="5324535"/>
          </a:xfrm>
          <a:prstGeom prst="rect">
            <a:avLst/>
          </a:prstGeom>
          <a:noFill/>
        </p:spPr>
        <p:txBody>
          <a:bodyPr wrap="square" rtlCol="0">
            <a:spAutoFit/>
          </a:bodyPr>
          <a:lstStyle/>
          <a:p>
            <a:r>
              <a:rPr lang="en-US" sz="2000" dirty="0"/>
              <a:t>What it does</a:t>
            </a:r>
          </a:p>
          <a:p>
            <a:endParaRPr lang="en-US" sz="2000" dirty="0"/>
          </a:p>
          <a:p>
            <a:pPr marL="342900" indent="-342900">
              <a:buFont typeface="Arial" panose="020B0604020202020204" pitchFamily="34" charset="0"/>
              <a:buChar char="•"/>
            </a:pPr>
            <a:r>
              <a:rPr lang="en-US" sz="2000" dirty="0"/>
              <a:t>Builds </a:t>
            </a:r>
            <a:r>
              <a:rPr lang="en-US" sz="2000" b="1" dirty="0"/>
              <a:t>many decision trees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Each tree predicts:</a:t>
            </a:r>
          </a:p>
          <a:p>
            <a:endParaRPr lang="en-US" sz="2000" dirty="0"/>
          </a:p>
          <a:p>
            <a:r>
              <a:rPr lang="en-US" sz="2000" dirty="0"/>
              <a:t>	✅ Benign </a:t>
            </a:r>
            <a:r>
              <a:rPr lang="en-US" dirty="0"/>
              <a:t>or</a:t>
            </a:r>
            <a:r>
              <a:rPr lang="en-US" sz="2000" dirty="0"/>
              <a:t> 🚨 Malicious</a:t>
            </a:r>
          </a:p>
          <a:p>
            <a:endParaRPr lang="en-US" sz="2000" dirty="0"/>
          </a:p>
          <a:p>
            <a:pPr marL="342900" indent="-342900">
              <a:buFont typeface="Arial" panose="020B0604020202020204" pitchFamily="34" charset="0"/>
              <a:buChar char="•"/>
            </a:pPr>
            <a:r>
              <a:rPr lang="en-US" sz="2000" dirty="0"/>
              <a:t>Final result = </a:t>
            </a:r>
            <a:r>
              <a:rPr lang="en-US" sz="2000" b="1" dirty="0"/>
              <a:t>majority vote</a:t>
            </a:r>
          </a:p>
          <a:p>
            <a:endParaRPr lang="en-US" sz="2000" dirty="0"/>
          </a:p>
          <a:p>
            <a:r>
              <a:rPr lang="en-US" sz="2000" dirty="0"/>
              <a:t>Why it’s </a:t>
            </a:r>
            <a:r>
              <a:rPr lang="en-US" sz="2000" b="1" dirty="0"/>
              <a:t>stronger</a:t>
            </a:r>
          </a:p>
          <a:p>
            <a:endParaRPr lang="en-US" sz="2000" dirty="0"/>
          </a:p>
          <a:p>
            <a:pPr marL="342900" indent="-342900">
              <a:buFont typeface="Arial" panose="020B0604020202020204" pitchFamily="34" charset="0"/>
              <a:buChar char="•"/>
            </a:pPr>
            <a:r>
              <a:rPr lang="en-US" sz="2000" dirty="0"/>
              <a:t>Handles complex ransomware behavior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More accurate + more stable than one model</a:t>
            </a:r>
          </a:p>
        </p:txBody>
      </p:sp>
    </p:spTree>
    <p:extLst>
      <p:ext uri="{BB962C8B-B14F-4D97-AF65-F5344CB8AC3E}">
        <p14:creationId xmlns:p14="http://schemas.microsoft.com/office/powerpoint/2010/main" val="320233990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508D2-D92C-388E-C2CA-41F23FE19184}"/>
              </a:ext>
            </a:extLst>
          </p:cNvPr>
          <p:cNvSpPr>
            <a:spLocks noGrp="1"/>
          </p:cNvSpPr>
          <p:nvPr>
            <p:ph type="title"/>
          </p:nvPr>
        </p:nvSpPr>
        <p:spPr>
          <a:xfrm>
            <a:off x="913795" y="152400"/>
            <a:ext cx="10353761" cy="1405467"/>
          </a:xfrm>
        </p:spPr>
        <p:txBody>
          <a:bodyPr/>
          <a:lstStyle/>
          <a:p>
            <a:r>
              <a:rPr lang="en-US" dirty="0"/>
              <a:t>Results: Which Model Performs Better?</a:t>
            </a:r>
          </a:p>
        </p:txBody>
      </p:sp>
      <p:pic>
        <p:nvPicPr>
          <p:cNvPr id="5" name="Content Placeholder 4">
            <a:extLst>
              <a:ext uri="{FF2B5EF4-FFF2-40B4-BE49-F238E27FC236}">
                <a16:creationId xmlns:a16="http://schemas.microsoft.com/office/drawing/2014/main" id="{8D5331EA-B7A7-4B14-EC07-95FCC601063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72716" y="1557867"/>
            <a:ext cx="6614483" cy="4961467"/>
          </a:xfrm>
        </p:spPr>
      </p:pic>
      <p:sp>
        <p:nvSpPr>
          <p:cNvPr id="7" name="TextBox 6">
            <a:extLst>
              <a:ext uri="{FF2B5EF4-FFF2-40B4-BE49-F238E27FC236}">
                <a16:creationId xmlns:a16="http://schemas.microsoft.com/office/drawing/2014/main" id="{2BFD06F0-0EA9-9F04-A582-F44537EB169F}"/>
              </a:ext>
            </a:extLst>
          </p:cNvPr>
          <p:cNvSpPr txBox="1"/>
          <p:nvPr/>
        </p:nvSpPr>
        <p:spPr>
          <a:xfrm>
            <a:off x="135467" y="1557867"/>
            <a:ext cx="4995334" cy="4524315"/>
          </a:xfrm>
          <a:prstGeom prst="rect">
            <a:avLst/>
          </a:prstGeom>
          <a:noFill/>
        </p:spPr>
        <p:txBody>
          <a:bodyPr wrap="square" rtlCol="0">
            <a:spAutoFit/>
          </a:bodyPr>
          <a:lstStyle/>
          <a:p>
            <a:r>
              <a:rPr lang="en-US" b="1" dirty="0"/>
              <a:t>Logistic Regression (Baseline)</a:t>
            </a:r>
          </a:p>
          <a:p>
            <a:endParaRPr lang="en-US" dirty="0"/>
          </a:p>
          <a:p>
            <a:pPr marL="285750" indent="-285750">
              <a:buFont typeface="Arial" panose="020B0604020202020204" pitchFamily="34" charset="0"/>
              <a:buChar char="•"/>
            </a:pPr>
            <a:r>
              <a:rPr lang="en-US" dirty="0"/>
              <a:t>Simple + fast baseline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Can miss complex patterns</a:t>
            </a:r>
          </a:p>
          <a:p>
            <a:r>
              <a:rPr lang="en-US" b="1" dirty="0"/>
              <a:t>	 (higher false negatives)</a:t>
            </a:r>
          </a:p>
          <a:p>
            <a:endParaRPr lang="en-US" dirty="0"/>
          </a:p>
          <a:p>
            <a:r>
              <a:rPr lang="en-US" b="1" dirty="0"/>
              <a:t>Random Forest (Ensemble)</a:t>
            </a:r>
          </a:p>
          <a:p>
            <a:endParaRPr lang="en-US" dirty="0"/>
          </a:p>
          <a:p>
            <a:pPr marL="285750" indent="-285750">
              <a:buFont typeface="Arial" panose="020B0604020202020204" pitchFamily="34" charset="0"/>
              <a:buChar char="•"/>
            </a:pPr>
            <a:r>
              <a:rPr lang="en-US" dirty="0"/>
              <a:t>Better detection overall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Catches more ransomware cases</a:t>
            </a:r>
          </a:p>
          <a:p>
            <a:r>
              <a:rPr lang="en-US" b="1" dirty="0"/>
              <a:t>	(higher recall)</a:t>
            </a:r>
          </a:p>
          <a:p>
            <a:endParaRPr lang="en-US" b="1" dirty="0"/>
          </a:p>
          <a:p>
            <a:endParaRPr lang="en-US" b="1" dirty="0"/>
          </a:p>
          <a:p>
            <a:r>
              <a:rPr lang="en-US" b="1" dirty="0"/>
              <a:t>Random Forest is the clear winner.</a:t>
            </a:r>
          </a:p>
        </p:txBody>
      </p:sp>
    </p:spTree>
    <p:extLst>
      <p:ext uri="{BB962C8B-B14F-4D97-AF65-F5344CB8AC3E}">
        <p14:creationId xmlns:p14="http://schemas.microsoft.com/office/powerpoint/2010/main" val="93258398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F7A3A-B3AF-BBFA-5EAE-5C456EB454CB}"/>
              </a:ext>
            </a:extLst>
          </p:cNvPr>
          <p:cNvSpPr>
            <a:spLocks noGrp="1"/>
          </p:cNvSpPr>
          <p:nvPr>
            <p:ph type="title"/>
          </p:nvPr>
        </p:nvSpPr>
        <p:spPr>
          <a:xfrm>
            <a:off x="913795" y="186268"/>
            <a:ext cx="10353761" cy="1269999"/>
          </a:xfrm>
        </p:spPr>
        <p:txBody>
          <a:bodyPr/>
          <a:lstStyle/>
          <a:p>
            <a:r>
              <a:rPr lang="en-US" dirty="0"/>
              <a:t>Why Random Forest Wins</a:t>
            </a:r>
          </a:p>
        </p:txBody>
      </p:sp>
      <p:pic>
        <p:nvPicPr>
          <p:cNvPr id="7" name="Content Placeholder 6">
            <a:extLst>
              <a:ext uri="{FF2B5EF4-FFF2-40B4-BE49-F238E27FC236}">
                <a16:creationId xmlns:a16="http://schemas.microsoft.com/office/drawing/2014/main" id="{9C993CB4-5207-3F2F-39B9-183003D7EEF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96000" y="1778000"/>
            <a:ext cx="5839665" cy="4908171"/>
          </a:xfrm>
        </p:spPr>
      </p:pic>
      <p:sp>
        <p:nvSpPr>
          <p:cNvPr id="4" name="TextBox 3">
            <a:extLst>
              <a:ext uri="{FF2B5EF4-FFF2-40B4-BE49-F238E27FC236}">
                <a16:creationId xmlns:a16="http://schemas.microsoft.com/office/drawing/2014/main" id="{F2251509-6530-A325-05A4-711846406609}"/>
              </a:ext>
            </a:extLst>
          </p:cNvPr>
          <p:cNvSpPr txBox="1"/>
          <p:nvPr/>
        </p:nvSpPr>
        <p:spPr>
          <a:xfrm>
            <a:off x="238198" y="1778001"/>
            <a:ext cx="5399398" cy="5416868"/>
          </a:xfrm>
          <a:prstGeom prst="rect">
            <a:avLst/>
          </a:prstGeom>
          <a:noFill/>
        </p:spPr>
        <p:txBody>
          <a:bodyPr wrap="square" rtlCol="0">
            <a:spAutoFit/>
          </a:bodyPr>
          <a:lstStyle/>
          <a:p>
            <a:r>
              <a:rPr lang="en-US" sz="2000" b="1" dirty="0"/>
              <a:t>Majority Voting</a:t>
            </a:r>
          </a:p>
          <a:p>
            <a:endParaRPr lang="en-US" sz="2000" dirty="0"/>
          </a:p>
          <a:p>
            <a:pPr marL="285750" indent="-285750">
              <a:buFont typeface="Arial" panose="020B0604020202020204" pitchFamily="34" charset="0"/>
              <a:buChar char="•"/>
            </a:pPr>
            <a:r>
              <a:rPr lang="en-US" sz="2000" dirty="0"/>
              <a:t>Many trees vote on the outcome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Majority vote = final prediction</a:t>
            </a:r>
          </a:p>
          <a:p>
            <a:endParaRPr lang="en-US" sz="2000" dirty="0"/>
          </a:p>
          <a:p>
            <a:r>
              <a:rPr lang="en-US" sz="2000" b="1" dirty="0"/>
              <a:t>Non-Linear Patterns</a:t>
            </a:r>
          </a:p>
          <a:p>
            <a:endParaRPr lang="en-US" sz="2000" dirty="0"/>
          </a:p>
          <a:p>
            <a:pPr marL="285750" indent="-285750">
              <a:buFont typeface="Arial" panose="020B0604020202020204" pitchFamily="34" charset="0"/>
              <a:buChar char="•"/>
            </a:pPr>
            <a:r>
              <a:rPr lang="en-US" sz="2000" dirty="0"/>
              <a:t>Captures complex ransomware behavior</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Simple models may miss these patterns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r>
              <a:rPr lang="en-US" b="1" dirty="0"/>
              <a:t>Many trees + voting = stronger detection.</a:t>
            </a:r>
          </a:p>
          <a:p>
            <a:endParaRPr lang="en-US" dirty="0"/>
          </a:p>
          <a:p>
            <a:endParaRPr lang="en-US" dirty="0"/>
          </a:p>
          <a:p>
            <a:endParaRPr lang="en-US" dirty="0"/>
          </a:p>
        </p:txBody>
      </p:sp>
    </p:spTree>
    <p:extLst>
      <p:ext uri="{BB962C8B-B14F-4D97-AF65-F5344CB8AC3E}">
        <p14:creationId xmlns:p14="http://schemas.microsoft.com/office/powerpoint/2010/main" val="35486053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7878D-811D-14E1-7965-A7D188D7365F}"/>
              </a:ext>
            </a:extLst>
          </p:cNvPr>
          <p:cNvSpPr>
            <a:spLocks noGrp="1"/>
          </p:cNvSpPr>
          <p:nvPr>
            <p:ph type="title"/>
          </p:nvPr>
        </p:nvSpPr>
        <p:spPr>
          <a:xfrm>
            <a:off x="913795" y="47132"/>
            <a:ext cx="10353761" cy="1814258"/>
          </a:xfrm>
        </p:spPr>
        <p:txBody>
          <a:bodyPr/>
          <a:lstStyle/>
          <a:p>
            <a:r>
              <a:rPr lang="en-US" dirty="0"/>
              <a:t>How We Measure Performance (Metrics)</a:t>
            </a:r>
          </a:p>
        </p:txBody>
      </p:sp>
      <p:sp>
        <p:nvSpPr>
          <p:cNvPr id="3" name="Content Placeholder 2">
            <a:extLst>
              <a:ext uri="{FF2B5EF4-FFF2-40B4-BE49-F238E27FC236}">
                <a16:creationId xmlns:a16="http://schemas.microsoft.com/office/drawing/2014/main" id="{75F7213B-0F9A-7BC3-B029-62CC5A1EF619}"/>
              </a:ext>
            </a:extLst>
          </p:cNvPr>
          <p:cNvSpPr>
            <a:spLocks noGrp="1"/>
          </p:cNvSpPr>
          <p:nvPr>
            <p:ph idx="1"/>
          </p:nvPr>
        </p:nvSpPr>
        <p:spPr>
          <a:xfrm>
            <a:off x="0" y="2286000"/>
            <a:ext cx="5706533" cy="4524869"/>
          </a:xfrm>
        </p:spPr>
        <p:txBody>
          <a:bodyPr>
            <a:normAutofit fontScale="92500" lnSpcReduction="20000"/>
          </a:bodyPr>
          <a:lstStyle/>
          <a:p>
            <a:pPr>
              <a:buNone/>
            </a:pPr>
            <a:r>
              <a:rPr lang="en-US" b="1" dirty="0"/>
              <a:t>Key Metrics</a:t>
            </a:r>
          </a:p>
          <a:p>
            <a:pPr>
              <a:buFont typeface="Arial" panose="020B0604020202020204" pitchFamily="34" charset="0"/>
              <a:buChar char="•"/>
            </a:pPr>
            <a:r>
              <a:rPr lang="en-US" b="1" dirty="0"/>
              <a:t>Accuracy</a:t>
            </a:r>
            <a:r>
              <a:rPr lang="en-US" dirty="0"/>
              <a:t> = overall correct predictions</a:t>
            </a:r>
          </a:p>
          <a:p>
            <a:pPr>
              <a:buFont typeface="Arial" panose="020B0604020202020204" pitchFamily="34" charset="0"/>
              <a:buChar char="•"/>
            </a:pPr>
            <a:r>
              <a:rPr lang="en-US" b="1" dirty="0"/>
              <a:t>Precision</a:t>
            </a:r>
            <a:r>
              <a:rPr lang="en-US" dirty="0"/>
              <a:t> = predicted malicious that are truly malicious</a:t>
            </a:r>
          </a:p>
          <a:p>
            <a:pPr>
              <a:buFont typeface="Arial" panose="020B0604020202020204" pitchFamily="34" charset="0"/>
              <a:buChar char="•"/>
            </a:pPr>
            <a:r>
              <a:rPr lang="en-US" b="1" dirty="0"/>
              <a:t>Recall</a:t>
            </a:r>
            <a:r>
              <a:rPr lang="en-US" dirty="0"/>
              <a:t> = ransomware cases correctly detected</a:t>
            </a:r>
          </a:p>
          <a:p>
            <a:pPr>
              <a:buFont typeface="Arial" panose="020B0604020202020204" pitchFamily="34" charset="0"/>
              <a:buChar char="•"/>
            </a:pPr>
            <a:r>
              <a:rPr lang="en-US" b="1" dirty="0"/>
              <a:t>F1-score</a:t>
            </a:r>
            <a:r>
              <a:rPr lang="en-US" dirty="0"/>
              <a:t> = balance of precision + recall</a:t>
            </a:r>
          </a:p>
          <a:p>
            <a:pPr>
              <a:buNone/>
            </a:pPr>
            <a:r>
              <a:rPr lang="en-US" b="1" dirty="0"/>
              <a:t>Most Important in Security</a:t>
            </a:r>
          </a:p>
          <a:p>
            <a:pPr>
              <a:buFont typeface="Arial" panose="020B0604020202020204" pitchFamily="34" charset="0"/>
              <a:buChar char="•"/>
            </a:pPr>
            <a:r>
              <a:rPr lang="en-US" b="1" dirty="0"/>
              <a:t>Recall</a:t>
            </a:r>
            <a:r>
              <a:rPr lang="en-US" dirty="0"/>
              <a:t> matters most (don’t miss ransomware)</a:t>
            </a:r>
          </a:p>
          <a:p>
            <a:pPr>
              <a:buFont typeface="Arial" panose="020B0604020202020204" pitchFamily="34" charset="0"/>
              <a:buChar char="•"/>
            </a:pPr>
            <a:r>
              <a:rPr lang="en-US" dirty="0"/>
              <a:t>False negatives are dangerous</a:t>
            </a:r>
          </a:p>
          <a:p>
            <a:pPr marL="0" indent="0">
              <a:buNone/>
            </a:pPr>
            <a:r>
              <a:rPr lang="en-US" b="1" dirty="0"/>
              <a:t>Missing ransomware is worse than a false alarm.</a:t>
            </a:r>
          </a:p>
        </p:txBody>
      </p:sp>
      <p:pic>
        <p:nvPicPr>
          <p:cNvPr id="5" name="Picture 4">
            <a:extLst>
              <a:ext uri="{FF2B5EF4-FFF2-40B4-BE49-F238E27FC236}">
                <a16:creationId xmlns:a16="http://schemas.microsoft.com/office/drawing/2014/main" id="{95518E9C-90F3-4EB0-4B4D-1894DCC4E8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6533" y="2265914"/>
            <a:ext cx="6214531" cy="4140431"/>
          </a:xfrm>
          <a:prstGeom prst="rect">
            <a:avLst/>
          </a:prstGeom>
        </p:spPr>
      </p:pic>
    </p:spTree>
    <p:extLst>
      <p:ext uri="{BB962C8B-B14F-4D97-AF65-F5344CB8AC3E}">
        <p14:creationId xmlns:p14="http://schemas.microsoft.com/office/powerpoint/2010/main" val="220331813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CC2F84-3A1D-1DEC-5D2C-67C906A079C5}"/>
              </a:ext>
            </a:extLst>
          </p:cNvPr>
          <p:cNvSpPr>
            <a:spLocks noGrp="1"/>
          </p:cNvSpPr>
          <p:nvPr>
            <p:ph type="title"/>
          </p:nvPr>
        </p:nvSpPr>
        <p:spPr>
          <a:xfrm>
            <a:off x="287867" y="0"/>
            <a:ext cx="11514666" cy="1337733"/>
          </a:xfrm>
        </p:spPr>
        <p:txBody>
          <a:bodyPr>
            <a:normAutofit fontScale="90000"/>
          </a:bodyPr>
          <a:lstStyle/>
          <a:p>
            <a:r>
              <a:rPr lang="en-US" b="1" dirty="0"/>
              <a:t>Cross-Dataset Generalization (EMBER 2018)</a:t>
            </a:r>
            <a:br>
              <a:rPr lang="en-US" dirty="0"/>
            </a:br>
            <a:endParaRPr lang="en-US" dirty="0"/>
          </a:p>
        </p:txBody>
      </p:sp>
      <p:pic>
        <p:nvPicPr>
          <p:cNvPr id="6" name="Picture 5">
            <a:extLst>
              <a:ext uri="{FF2B5EF4-FFF2-40B4-BE49-F238E27FC236}">
                <a16:creationId xmlns:a16="http://schemas.microsoft.com/office/drawing/2014/main" id="{EF9B11C6-3A95-37B3-BAD9-99A1508E0195}"/>
              </a:ext>
            </a:extLst>
          </p:cNvPr>
          <p:cNvPicPr>
            <a:picLocks noChangeAspect="1"/>
          </p:cNvPicPr>
          <p:nvPr/>
        </p:nvPicPr>
        <p:blipFill>
          <a:blip r:embed="rId2">
            <a:extLst>
              <a:ext uri="{28A0092B-C50C-407E-A947-70E740481C1C}">
                <a14:useLocalDpi xmlns:a14="http://schemas.microsoft.com/office/drawing/2010/main" val="0"/>
              </a:ext>
            </a:extLst>
          </a:blip>
          <a:srcRect l="5184" t="15556" r="4815" b="52839"/>
          <a:stretch>
            <a:fillRect/>
          </a:stretch>
        </p:blipFill>
        <p:spPr>
          <a:xfrm>
            <a:off x="0" y="982133"/>
            <a:ext cx="12191999" cy="5891795"/>
          </a:xfrm>
          <a:prstGeom prst="rect">
            <a:avLst/>
          </a:prstGeom>
        </p:spPr>
      </p:pic>
    </p:spTree>
    <p:extLst>
      <p:ext uri="{BB962C8B-B14F-4D97-AF65-F5344CB8AC3E}">
        <p14:creationId xmlns:p14="http://schemas.microsoft.com/office/powerpoint/2010/main" val="344993130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4F201-2FCB-5F47-F558-F89A82E01FA0}"/>
              </a:ext>
            </a:extLst>
          </p:cNvPr>
          <p:cNvSpPr>
            <a:spLocks noGrp="1"/>
          </p:cNvSpPr>
          <p:nvPr>
            <p:ph type="title"/>
          </p:nvPr>
        </p:nvSpPr>
        <p:spPr>
          <a:xfrm>
            <a:off x="186267" y="115482"/>
            <a:ext cx="11836400" cy="1035985"/>
          </a:xfrm>
        </p:spPr>
        <p:txBody>
          <a:bodyPr/>
          <a:lstStyle/>
          <a:p>
            <a:r>
              <a:rPr lang="en-US" dirty="0"/>
              <a:t>EMBER Results – Random Forest ROC Curve</a:t>
            </a:r>
          </a:p>
        </p:txBody>
      </p:sp>
      <p:pic>
        <p:nvPicPr>
          <p:cNvPr id="5" name="Content Placeholder 4">
            <a:extLst>
              <a:ext uri="{FF2B5EF4-FFF2-40B4-BE49-F238E27FC236}">
                <a16:creationId xmlns:a16="http://schemas.microsoft.com/office/drawing/2014/main" id="{F158FD84-20B2-F2C9-EDC0-4CBD7F9E02D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4835" t="52807" r="4514" b="18327"/>
          <a:stretch>
            <a:fillRect/>
          </a:stretch>
        </p:blipFill>
        <p:spPr>
          <a:xfrm>
            <a:off x="0" y="1151467"/>
            <a:ext cx="12192000" cy="5591051"/>
          </a:xfrm>
        </p:spPr>
      </p:pic>
    </p:spTree>
    <p:extLst>
      <p:ext uri="{BB962C8B-B14F-4D97-AF65-F5344CB8AC3E}">
        <p14:creationId xmlns:p14="http://schemas.microsoft.com/office/powerpoint/2010/main" val="413385613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5A37C-5BDC-E8EB-4FAC-12ED6AE5B824}"/>
              </a:ext>
            </a:extLst>
          </p:cNvPr>
          <p:cNvSpPr>
            <a:spLocks noGrp="1"/>
          </p:cNvSpPr>
          <p:nvPr>
            <p:ph type="title"/>
          </p:nvPr>
        </p:nvSpPr>
        <p:spPr>
          <a:xfrm>
            <a:off x="913795" y="0"/>
            <a:ext cx="10353761" cy="1608667"/>
          </a:xfrm>
        </p:spPr>
        <p:txBody>
          <a:bodyPr/>
          <a:lstStyle/>
          <a:p>
            <a:r>
              <a:rPr lang="en-US" dirty="0"/>
              <a:t>What Did We Learn? (Key Takeaways)</a:t>
            </a:r>
          </a:p>
        </p:txBody>
      </p:sp>
      <p:pic>
        <p:nvPicPr>
          <p:cNvPr id="5" name="Content Placeholder 4">
            <a:extLst>
              <a:ext uri="{FF2B5EF4-FFF2-40B4-BE49-F238E27FC236}">
                <a16:creationId xmlns:a16="http://schemas.microsoft.com/office/drawing/2014/main" id="{9E820E6D-F854-B8C8-113E-3D2F0D3F125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867767" y="1828800"/>
            <a:ext cx="6159088" cy="5029200"/>
          </a:xfrm>
        </p:spPr>
      </p:pic>
      <p:sp>
        <p:nvSpPr>
          <p:cNvPr id="7" name="TextBox 6">
            <a:extLst>
              <a:ext uri="{FF2B5EF4-FFF2-40B4-BE49-F238E27FC236}">
                <a16:creationId xmlns:a16="http://schemas.microsoft.com/office/drawing/2014/main" id="{B3E327E2-4E57-2C70-8F09-061249E0BFC6}"/>
              </a:ext>
            </a:extLst>
          </p:cNvPr>
          <p:cNvSpPr txBox="1"/>
          <p:nvPr/>
        </p:nvSpPr>
        <p:spPr>
          <a:xfrm>
            <a:off x="0" y="1828799"/>
            <a:ext cx="5867767" cy="5078313"/>
          </a:xfrm>
          <a:prstGeom prst="rect">
            <a:avLst/>
          </a:prstGeom>
          <a:noFill/>
        </p:spPr>
        <p:txBody>
          <a:bodyPr wrap="square" rtlCol="0">
            <a:spAutoFit/>
          </a:bodyPr>
          <a:lstStyle/>
          <a:p>
            <a:pPr marL="285750" indent="-285750">
              <a:buFont typeface="Arial" panose="020B0604020202020204" pitchFamily="34" charset="0"/>
              <a:buChar char="•"/>
            </a:pPr>
            <a:r>
              <a:rPr lang="en-US" dirty="0"/>
              <a:t>Machine learning can detect ransomware using </a:t>
            </a:r>
            <a:r>
              <a:rPr lang="en-US" b="1" dirty="0"/>
              <a:t>behavior features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Logistic Regression</a:t>
            </a:r>
            <a:r>
              <a:rPr lang="en-US" dirty="0"/>
              <a:t> is a good baseline, but can miss complex attacks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Random Forest performed best</a:t>
            </a:r>
            <a:r>
              <a:rPr lang="en-US" dirty="0"/>
              <a:t> due to voting + stronger pattern detection</a:t>
            </a:r>
          </a:p>
          <a:p>
            <a:endParaRPr lang="en-US" dirty="0"/>
          </a:p>
          <a:p>
            <a:pPr marL="285750" indent="-285750">
              <a:buFont typeface="Arial" panose="020B0604020202020204" pitchFamily="34" charset="0"/>
              <a:buChar char="•"/>
            </a:pPr>
            <a:r>
              <a:rPr lang="en-US" dirty="0"/>
              <a:t>In security, </a:t>
            </a:r>
            <a:r>
              <a:rPr lang="en-US" b="1" dirty="0"/>
              <a:t>Recall is critical</a:t>
            </a:r>
            <a:endParaRPr lang="en-US" dirty="0"/>
          </a:p>
          <a:p>
            <a:pPr lvl="1">
              <a:buFont typeface="Arial" panose="020B0604020202020204" pitchFamily="34" charset="0"/>
              <a:buChar char="•"/>
            </a:pPr>
            <a:r>
              <a:rPr lang="en-US" dirty="0"/>
              <a:t>missing ransomware (</a:t>
            </a:r>
            <a:r>
              <a:rPr lang="en-US" b="1" dirty="0"/>
              <a:t>false negatives</a:t>
            </a:r>
            <a:r>
              <a:rPr lang="en-US" dirty="0"/>
              <a:t>) is dangerous</a:t>
            </a:r>
          </a:p>
          <a:p>
            <a:endParaRPr lang="en-US" dirty="0"/>
          </a:p>
          <a:p>
            <a:endParaRPr lang="en-US" dirty="0"/>
          </a:p>
          <a:p>
            <a:endParaRPr lang="en-US" dirty="0"/>
          </a:p>
          <a:p>
            <a:endParaRPr lang="en-US" dirty="0"/>
          </a:p>
          <a:p>
            <a:r>
              <a:rPr lang="en-US" dirty="0"/>
              <a:t>Ensemble models improve detection and reduce missed attacks.</a:t>
            </a:r>
          </a:p>
        </p:txBody>
      </p:sp>
    </p:spTree>
    <p:extLst>
      <p:ext uri="{BB962C8B-B14F-4D97-AF65-F5344CB8AC3E}">
        <p14:creationId xmlns:p14="http://schemas.microsoft.com/office/powerpoint/2010/main" val="98107112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9BCB2FF-00E5-71EB-6516-423E3660C8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192746095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C728A3-F356-5C67-5F26-EED6935F69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33169"/>
            <a:ext cx="12192000" cy="6881918"/>
          </a:xfrm>
          <a:prstGeom prst="rect">
            <a:avLst/>
          </a:prstGeom>
        </p:spPr>
      </p:pic>
    </p:spTree>
    <p:extLst>
      <p:ext uri="{BB962C8B-B14F-4D97-AF65-F5344CB8AC3E}">
        <p14:creationId xmlns:p14="http://schemas.microsoft.com/office/powerpoint/2010/main" val="931634035"/>
      </p:ext>
    </p:extLst>
  </p:cSld>
  <p:clrMapOvr>
    <a:masterClrMapping/>
  </p:clrMapOvr>
  <p:transition>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185</TotalTime>
  <Words>1074</Words>
  <Application>Microsoft Office PowerPoint</Application>
  <PresentationFormat>Widescreen</PresentationFormat>
  <Paragraphs>157</Paragraphs>
  <Slides>16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Bookman Old Style</vt:lpstr>
      <vt:lpstr>Calibri</vt:lpstr>
      <vt:lpstr>Rockwell</vt:lpstr>
      <vt:lpstr>Damask</vt:lpstr>
      <vt:lpstr>Ransomware Detection Using Machine Learning</vt:lpstr>
      <vt:lpstr>PowerPoint Presentation</vt:lpstr>
      <vt:lpstr>What is Ransomware?</vt:lpstr>
      <vt:lpstr>Why Early Detection Matters</vt:lpstr>
      <vt:lpstr>What Data Does the Model See? (Features)</vt:lpstr>
      <vt:lpstr>“Baseline” vs “Ensemble” Models</vt:lpstr>
      <vt:lpstr>Model 1: Logistic Regression (Baseline)</vt:lpstr>
      <vt:lpstr>Model 2: Random Forest (Ensemble)</vt:lpstr>
      <vt:lpstr>Results: Which Model Performs Better?</vt:lpstr>
      <vt:lpstr>Why Random Forest Wins</vt:lpstr>
      <vt:lpstr>How We Measure Performance (Metrics)</vt:lpstr>
      <vt:lpstr>Cross-Dataset Generalization (EMBER 2018) </vt:lpstr>
      <vt:lpstr>EMBER Results – Random Forest ROC Curve</vt:lpstr>
      <vt:lpstr>What Did We Learn? (Key Takeaways)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Miguel Lupe</dc:creator>
  <cp:lastModifiedBy>Miguel Lupe</cp:lastModifiedBy>
  <cp:revision>15</cp:revision>
  <dcterms:created xsi:type="dcterms:W3CDTF">2026-01-12T19:37:17Z</dcterms:created>
  <dcterms:modified xsi:type="dcterms:W3CDTF">2026-01-15T21:02:32Z</dcterms:modified>
</cp:coreProperties>
</file>